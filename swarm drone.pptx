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61" r:id="rId2"/>
  </p:sldIdLst>
  <p:sldSz cx="12801600" cy="96012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58"/>
    <p:restoredTop sz="94694"/>
  </p:normalViewPr>
  <p:slideViewPr>
    <p:cSldViewPr snapToGrid="0">
      <p:cViewPr>
        <p:scale>
          <a:sx n="75" d="100"/>
          <a:sy n="75" d="100"/>
        </p:scale>
        <p:origin x="1032" y="-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08868B-6F9D-6E4A-8642-AD9A105603CA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9F79C4-F26E-4F41-83A0-DC4699E05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015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1A253-7124-40F3-798B-181D6D36A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E396F2-761A-CDB2-1E53-F616B5BACD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CFB2B3-FFBC-ED70-560F-7F11585EB1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434C9-16D9-9F37-D225-BB20CA1BCD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9F79C4-F26E-4F41-83A0-DC4699E0585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663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  <a:prstGeom prst="rect">
            <a:avLst/>
          </a:prstGeom>
        </p:spPr>
        <p:txBody>
          <a:bodyPr anchor="b"/>
          <a:lstStyle>
            <a:lvl1pPr algn="ctr"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D6EA7-4F48-D94F-9510-537DFF34D8E2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FB0E-06C9-6643-AC54-76AE7D3F7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535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82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D6EA7-4F48-D94F-9510-537DFF34D8E2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FB0E-06C9-6643-AC54-76AE7D3F7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458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D6EA7-4F48-D94F-9510-537DFF34D8E2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FB0E-06C9-6643-AC54-76AE7D3F7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244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D6EA7-4F48-D94F-9510-537DFF34D8E2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FB0E-06C9-6643-AC54-76AE7D3F7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006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D6EA7-4F48-D94F-9510-537DFF34D8E2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FB0E-06C9-6643-AC54-76AE7D3F7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676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D6EA7-4F48-D94F-9510-537DFF34D8E2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FB0E-06C9-6643-AC54-76AE7D3F7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59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  <a:prstGeom prst="rect">
            <a:avLst/>
          </a:prstGeo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  <a:prstGeom prst="rect">
            <a:avLst/>
          </a:prstGeo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D6EA7-4F48-D94F-9510-537DFF34D8E2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FB0E-06C9-6643-AC54-76AE7D3F7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336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  <a:prstGeom prst="rect">
            <a:avLst/>
          </a:prstGeo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D6EA7-4F48-D94F-9510-537DFF34D8E2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FB0E-06C9-6643-AC54-76AE7D3F7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68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D6EA7-4F48-D94F-9510-537DFF34D8E2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FB0E-06C9-6643-AC54-76AE7D3F7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53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D6EA7-4F48-D94F-9510-537DFF34D8E2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FB0E-06C9-6643-AC54-76AE7D3F7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682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BD6EA7-4F48-D94F-9510-537DFF34D8E2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EDFB0E-06C9-6643-AC54-76AE7D3F7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294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76268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521EFA-18FC-1257-02F6-43F0DC12A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42AFF2EA-B00A-A79E-A09B-9464ADA97B48}"/>
              </a:ext>
            </a:extLst>
          </p:cNvPr>
          <p:cNvGrpSpPr/>
          <p:nvPr/>
        </p:nvGrpSpPr>
        <p:grpSpPr>
          <a:xfrm>
            <a:off x="0" y="0"/>
            <a:ext cx="12836525" cy="9601200"/>
            <a:chOff x="12700" y="0"/>
            <a:chExt cx="12836525" cy="960120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22A7DCF2-9AF7-552F-F6E7-DD321AC31A85}"/>
                </a:ext>
              </a:extLst>
            </p:cNvPr>
            <p:cNvGrpSpPr/>
            <p:nvPr/>
          </p:nvGrpSpPr>
          <p:grpSpPr>
            <a:xfrm>
              <a:off x="12700" y="0"/>
              <a:ext cx="12836525" cy="9601200"/>
              <a:chOff x="12700" y="0"/>
              <a:chExt cx="12836525" cy="96012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B82F559-761E-45A0-4F9E-08874CAE7218}"/>
                  </a:ext>
                </a:extLst>
              </p:cNvPr>
              <p:cNvSpPr/>
              <p:nvPr/>
            </p:nvSpPr>
            <p:spPr>
              <a:xfrm>
                <a:off x="47625" y="0"/>
                <a:ext cx="12801600" cy="1287803"/>
              </a:xfrm>
              <a:prstGeom prst="rect">
                <a:avLst/>
              </a:prstGeom>
              <a:gradFill flip="none" rotWithShape="1">
                <a:gsLst>
                  <a:gs pos="76000">
                    <a:schemeClr val="accent4">
                      <a:lumMod val="75000"/>
                    </a:schemeClr>
                  </a:gs>
                  <a:gs pos="100000">
                    <a:schemeClr val="accent4">
                      <a:lumMod val="50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C69918F2-7824-E352-1698-081AD08F90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625" y="30582"/>
                <a:ext cx="1267141" cy="1267141"/>
              </a:xfrm>
              <a:prstGeom prst="rect">
                <a:avLst/>
              </a:prstGeom>
            </p:spPr>
          </p:pic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D79C5CF1-7BE9-3AC6-7F13-0B94E81F58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625" y="1297723"/>
                <a:ext cx="12753975" cy="0"/>
              </a:xfrm>
              <a:prstGeom prst="line">
                <a:avLst/>
              </a:prstGeom>
              <a:ln w="857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70B1E97-1BB2-DFCE-BE7A-BDD0D7FFDC63}"/>
                  </a:ext>
                </a:extLst>
              </p:cNvPr>
              <p:cNvSpPr/>
              <p:nvPr/>
            </p:nvSpPr>
            <p:spPr>
              <a:xfrm>
                <a:off x="12700" y="1"/>
                <a:ext cx="12801600" cy="9601199"/>
              </a:xfrm>
              <a:prstGeom prst="rect">
                <a:avLst/>
              </a:prstGeom>
              <a:noFill/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3E033DD-E33D-2E27-8384-3177A3BC9149}"/>
                  </a:ext>
                </a:extLst>
              </p:cNvPr>
              <p:cNvSpPr txBox="1"/>
              <p:nvPr/>
            </p:nvSpPr>
            <p:spPr>
              <a:xfrm>
                <a:off x="1006851" y="86662"/>
                <a:ext cx="10700962" cy="677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ln>
                      <a:solidFill>
                        <a:schemeClr val="bg2">
                          <a:lumMod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Bookman Old Style" panose="02050604050505020204" pitchFamily="18" charset="0"/>
                  </a:rPr>
                  <a:t>NATIONAL INSTITUTE OF TECHNOLOGY ANDHRA PRADESH</a:t>
                </a:r>
              </a:p>
              <a:p>
                <a:pPr algn="ctr"/>
                <a:r>
                  <a:rPr lang="en-US" sz="1400" dirty="0">
                    <a:solidFill>
                      <a:schemeClr val="bg1">
                        <a:lumMod val="85000"/>
                      </a:schemeClr>
                    </a:solidFill>
                    <a:effectLst>
                      <a:glow rad="101600">
                        <a:schemeClr val="accent1">
                          <a:lumMod val="50000"/>
                          <a:alpha val="60000"/>
                        </a:schemeClr>
                      </a:glow>
                    </a:effectLst>
                    <a:latin typeface="Bookman Old Style" panose="02050604050505020204" pitchFamily="18" charset="0"/>
                  </a:rPr>
                  <a:t>(An Autonomous Institute under the aegis of Ministry of Education, Government of India)</a:t>
                </a:r>
              </a:p>
            </p:txBody>
          </p:sp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ADFA80D2-6089-D198-FD33-89F24FBBC9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22284" r="23281" b="22872"/>
              <a:stretch>
                <a:fillRect/>
              </a:stretch>
            </p:blipFill>
            <p:spPr>
              <a:xfrm>
                <a:off x="11806604" y="56488"/>
                <a:ext cx="908905" cy="1287803"/>
              </a:xfrm>
              <a:prstGeom prst="rect">
                <a:avLst/>
              </a:prstGeom>
            </p:spPr>
          </p:pic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8DFC60C-50CB-1DF1-7898-AFC47F493895}"/>
                  </a:ext>
                </a:extLst>
              </p:cNvPr>
              <p:cNvSpPr txBox="1"/>
              <p:nvPr/>
            </p:nvSpPr>
            <p:spPr>
              <a:xfrm>
                <a:off x="2268196" y="712972"/>
                <a:ext cx="8178271" cy="5693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FFC000"/>
                    </a:solidFill>
                    <a:effectLst>
                      <a:glow rad="34759">
                        <a:schemeClr val="tx1">
                          <a:alpha val="37541"/>
                        </a:schemeClr>
                      </a:glow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Bookman Old Style" panose="02050604050505020204" pitchFamily="18" charset="0"/>
                  </a:rPr>
                  <a:t>DEPARTMENT OF ELECTRICAL ENGINEERING</a:t>
                </a:r>
              </a:p>
              <a:p>
                <a:pPr algn="ctr"/>
                <a:r>
                  <a:rPr lang="en-US" sz="1600" dirty="0">
                    <a:solidFill>
                      <a:srgbClr val="FFFF00"/>
                    </a:solidFill>
                    <a:effectLst>
                      <a:glow rad="34759">
                        <a:schemeClr val="tx1">
                          <a:alpha val="37541"/>
                        </a:schemeClr>
                      </a:glow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Bookman Old Style" panose="02050604050505020204" pitchFamily="18" charset="0"/>
                  </a:rPr>
                  <a:t>GENESIS 2.0 </a:t>
                </a:r>
                <a:endParaRPr lang="en-US" sz="1600" dirty="0">
                  <a:solidFill>
                    <a:srgbClr val="FFC000"/>
                  </a:solidFill>
                  <a:effectLst>
                    <a:glow rad="34759">
                      <a:schemeClr val="tx1">
                        <a:alpha val="37541"/>
                      </a:schemeClr>
                    </a:glow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Bookman Old Style" panose="02050604050505020204" pitchFamily="18" charset="0"/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E0B46AA-C323-C221-CA42-E155CCECC952}"/>
                </a:ext>
              </a:extLst>
            </p:cNvPr>
            <p:cNvGrpSpPr/>
            <p:nvPr/>
          </p:nvGrpSpPr>
          <p:grpSpPr>
            <a:xfrm>
              <a:off x="262836" y="1941260"/>
              <a:ext cx="2586726" cy="2394766"/>
              <a:chOff x="262836" y="1941260"/>
              <a:chExt cx="2586726" cy="2394766"/>
            </a:xfrm>
          </p:grpSpPr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1DB6AF27-F602-A508-38B4-B0269FA66CE2}"/>
                  </a:ext>
                </a:extLst>
              </p:cNvPr>
              <p:cNvSpPr/>
              <p:nvPr/>
            </p:nvSpPr>
            <p:spPr>
              <a:xfrm>
                <a:off x="271462" y="2457971"/>
                <a:ext cx="2578100" cy="1878055"/>
              </a:xfrm>
              <a:prstGeom prst="roundRect">
                <a:avLst>
                  <a:gd name="adj" fmla="val 6312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100" dirty="0">
                  <a:solidFill>
                    <a:schemeClr val="tx1"/>
                  </a:solidFill>
                </a:endParaRPr>
              </a:p>
              <a:p>
                <a:pPr algn="just"/>
                <a:r>
                  <a:rPr lang="en-IN" sz="1100" dirty="0">
                    <a:solidFill>
                      <a:schemeClr val="tx1"/>
                    </a:solidFill>
                  </a:rPr>
                  <a:t>A swarm drone system is developed integrating Pixhawk controllers, GPS modules, ESCs, and telemetry for synchronized multi-drone operations.</a:t>
                </a:r>
                <a:r>
                  <a:rPr lang="en-US" sz="1100" dirty="0">
                    <a:solidFill>
                      <a:schemeClr val="tx1"/>
                    </a:solidFill>
                  </a:rPr>
                  <a:t> Using Mission Planner software, the system enables real-time communication, precise navigation, and coordinated flight, offering an efficient solution for complex tasks in defense, agriculture, and emergency management.</a:t>
                </a:r>
                <a:endParaRPr lang="en-IN" sz="1100" dirty="0">
                  <a:solidFill>
                    <a:schemeClr val="tx1"/>
                  </a:solidFill>
                </a:endParaRPr>
              </a:p>
              <a:p>
                <a:pPr algn="ctr"/>
                <a:endParaRPr lang="en-US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3F245436-DA38-D1FF-AEB9-A785CB09D687}"/>
                  </a:ext>
                </a:extLst>
              </p:cNvPr>
              <p:cNvSpPr/>
              <p:nvPr/>
            </p:nvSpPr>
            <p:spPr>
              <a:xfrm>
                <a:off x="262836" y="1941260"/>
                <a:ext cx="2578100" cy="449974"/>
              </a:xfrm>
              <a:prstGeom prst="roundRect">
                <a:avLst>
                  <a:gd name="adj" fmla="val 28937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ABSTRACT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FDE1167-6DAE-ECEB-9DB9-3782E044F526}"/>
                </a:ext>
              </a:extLst>
            </p:cNvPr>
            <p:cNvGrpSpPr/>
            <p:nvPr/>
          </p:nvGrpSpPr>
          <p:grpSpPr>
            <a:xfrm>
              <a:off x="234951" y="4402763"/>
              <a:ext cx="2829342" cy="5111770"/>
              <a:chOff x="234951" y="4402763"/>
              <a:chExt cx="2829342" cy="5111770"/>
            </a:xfrm>
          </p:grpSpPr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4D6937D3-9ED6-1471-8403-C89A2B34FBDE}"/>
                  </a:ext>
                </a:extLst>
              </p:cNvPr>
              <p:cNvSpPr/>
              <p:nvPr/>
            </p:nvSpPr>
            <p:spPr>
              <a:xfrm>
                <a:off x="266909" y="4402763"/>
                <a:ext cx="2578100" cy="449974"/>
              </a:xfrm>
              <a:prstGeom prst="roundRect">
                <a:avLst>
                  <a:gd name="adj" fmla="val 28937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INTRODUCTION</a:t>
                </a:r>
              </a:p>
            </p:txBody>
          </p:sp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40273D10-DBA6-3CE9-FF91-10F458E1370B}"/>
                  </a:ext>
                </a:extLst>
              </p:cNvPr>
              <p:cNvSpPr/>
              <p:nvPr/>
            </p:nvSpPr>
            <p:spPr>
              <a:xfrm>
                <a:off x="234951" y="4919474"/>
                <a:ext cx="2829342" cy="4595059"/>
              </a:xfrm>
              <a:prstGeom prst="roundRect">
                <a:avLst>
                  <a:gd name="adj" fmla="val 6312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r>
                  <a:rPr lang="en-US" sz="1100" b="1" dirty="0">
                    <a:solidFill>
                      <a:schemeClr val="tx1"/>
                    </a:solidFill>
                  </a:rPr>
                  <a:t>S</a:t>
                </a:r>
                <a:r>
                  <a:rPr lang="en-US" sz="1100" dirty="0">
                    <a:solidFill>
                      <a:schemeClr val="tx1"/>
                    </a:solidFill>
                  </a:rPr>
                  <a:t>warm drone technology is inspired by collective behavior in nature, such as flocks of birds and schools of fish, where simple agents coordinate to perform complex tasks. Unlike conventional single-drone systems, swarm drones operate collaboratively, enabling efficient task distribution, redundancy, and improved reliability in dynamic environments.</a:t>
                </a:r>
              </a:p>
              <a:p>
                <a:pPr algn="just"/>
                <a:r>
                  <a:rPr lang="en-US" sz="1100" dirty="0">
                    <a:solidFill>
                      <a:schemeClr val="tx1"/>
                    </a:solidFill>
                  </a:rPr>
                  <a:t>In this project, a swarm drone system is developed using </a:t>
                </a:r>
                <a:r>
                  <a:rPr lang="en-US" sz="1100" b="1" dirty="0">
                    <a:solidFill>
                      <a:schemeClr val="tx1"/>
                    </a:solidFill>
                  </a:rPr>
                  <a:t>Pixhawk flight controllers integrated with ESCs, GPS modules, and telemetry communication</a:t>
                </a:r>
                <a:r>
                  <a:rPr lang="en-US" sz="1100" dirty="0">
                    <a:solidFill>
                      <a:schemeClr val="tx1"/>
                    </a:solidFill>
                  </a:rPr>
                  <a:t>. </a:t>
                </a:r>
                <a:r>
                  <a:rPr lang="en-US" sz="1100" b="1" dirty="0">
                    <a:solidFill>
                      <a:schemeClr val="tx1"/>
                    </a:solidFill>
                  </a:rPr>
                  <a:t>Mission Planner </a:t>
                </a:r>
                <a:r>
                  <a:rPr lang="en-US" sz="1100" dirty="0">
                    <a:solidFill>
                      <a:schemeClr val="tx1"/>
                    </a:solidFill>
                  </a:rPr>
                  <a:t>software is used to configure parameters, enabling </a:t>
                </a:r>
                <a:r>
                  <a:rPr lang="en-US" sz="1100" b="1" dirty="0">
                    <a:solidFill>
                      <a:schemeClr val="tx1"/>
                    </a:solidFill>
                  </a:rPr>
                  <a:t>synchronized control and real-time monitoring</a:t>
                </a:r>
                <a:r>
                  <a:rPr lang="en-US" sz="1100" dirty="0">
                    <a:solidFill>
                      <a:schemeClr val="tx1"/>
                    </a:solidFill>
                  </a:rPr>
                  <a:t>. The system demonstrates coordinated navigation and communication among drones.</a:t>
                </a:r>
              </a:p>
              <a:p>
                <a:pPr algn="just"/>
                <a:r>
                  <a:rPr lang="en-US" sz="1100" dirty="0">
                    <a:solidFill>
                      <a:schemeClr val="tx1"/>
                    </a:solidFill>
                  </a:rPr>
                  <a:t>Such systems have wide applications in </a:t>
                </a:r>
                <a:r>
                  <a:rPr lang="en-US" sz="1100" b="1" dirty="0">
                    <a:solidFill>
                      <a:schemeClr val="tx1"/>
                    </a:solidFill>
                  </a:rPr>
                  <a:t>disaster management, surveillance, agriculture, environmental monitoring, infrastructure inspection, and large-scale mapping</a:t>
                </a:r>
                <a:r>
                  <a:rPr lang="en-US" sz="1100" dirty="0">
                    <a:solidFill>
                      <a:schemeClr val="tx1"/>
                    </a:solidFill>
                  </a:rPr>
                  <a:t>, making them efficient and scalable.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232CF0B-F254-D91B-2DAD-2B0ACDA3DF0B}"/>
                </a:ext>
              </a:extLst>
            </p:cNvPr>
            <p:cNvGrpSpPr/>
            <p:nvPr/>
          </p:nvGrpSpPr>
          <p:grpSpPr>
            <a:xfrm>
              <a:off x="257175" y="1418667"/>
              <a:ext cx="12334874" cy="2345941"/>
              <a:chOff x="257175" y="1418667"/>
              <a:chExt cx="12334874" cy="2345941"/>
            </a:xfrm>
          </p:grpSpPr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5E2E1A06-86D8-7ED9-ED56-031D16983225}"/>
                  </a:ext>
                </a:extLst>
              </p:cNvPr>
              <p:cNvSpPr/>
              <p:nvPr/>
            </p:nvSpPr>
            <p:spPr>
              <a:xfrm>
                <a:off x="3141873" y="2536885"/>
                <a:ext cx="6628564" cy="1227723"/>
              </a:xfrm>
              <a:prstGeom prst="roundRect">
                <a:avLst>
                  <a:gd name="adj" fmla="val 6312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1450" indent="-171450" algn="just">
                  <a:buFont typeface="Arial" panose="020B0604020202020204" pitchFamily="34" charset="0"/>
                  <a:buChar char="•"/>
                </a:pPr>
                <a:r>
                  <a:rPr lang="en-US" sz="1100" dirty="0">
                    <a:solidFill>
                      <a:schemeClr val="tx1"/>
                    </a:solidFill>
                  </a:rPr>
                  <a:t>To design and develop a </a:t>
                </a:r>
                <a:r>
                  <a:rPr lang="en-US" sz="1100" b="1" dirty="0">
                    <a:solidFill>
                      <a:schemeClr val="tx1"/>
                    </a:solidFill>
                  </a:rPr>
                  <a:t>swarm drone system</a:t>
                </a:r>
                <a:r>
                  <a:rPr lang="en-US" sz="1100" dirty="0">
                    <a:solidFill>
                      <a:schemeClr val="tx1"/>
                    </a:solidFill>
                  </a:rPr>
                  <a:t> capable of coordinated multi-drone operation.</a:t>
                </a:r>
              </a:p>
              <a:p>
                <a:pPr marL="171450" indent="-171450" algn="just">
                  <a:buFont typeface="Arial" panose="020B0604020202020204" pitchFamily="34" charset="0"/>
                  <a:buChar char="•"/>
                </a:pPr>
                <a:r>
                  <a:rPr lang="en-US" sz="1100" dirty="0">
                    <a:solidFill>
                      <a:schemeClr val="tx1"/>
                    </a:solidFill>
                  </a:rPr>
                  <a:t>To integrate </a:t>
                </a:r>
                <a:r>
                  <a:rPr lang="en-US" sz="1100" b="1" dirty="0">
                    <a:solidFill>
                      <a:schemeClr val="tx1"/>
                    </a:solidFill>
                  </a:rPr>
                  <a:t>GPS modules</a:t>
                </a:r>
                <a:r>
                  <a:rPr lang="en-US" sz="1100" dirty="0">
                    <a:solidFill>
                      <a:schemeClr val="tx1"/>
                    </a:solidFill>
                  </a:rPr>
                  <a:t> for accurate positioning and navigation.</a:t>
                </a:r>
              </a:p>
              <a:p>
                <a:pPr marL="171450" indent="-171450" algn="just">
                  <a:buFont typeface="Arial" panose="020B0604020202020204" pitchFamily="34" charset="0"/>
                  <a:buChar char="•"/>
                </a:pPr>
                <a:r>
                  <a:rPr lang="en-US" sz="1100" dirty="0">
                    <a:solidFill>
                      <a:schemeClr val="tx1"/>
                    </a:solidFill>
                  </a:rPr>
                  <a:t>To enhance </a:t>
                </a:r>
                <a:r>
                  <a:rPr lang="en-US" sz="1100" b="1" dirty="0">
                    <a:solidFill>
                      <a:schemeClr val="tx1"/>
                    </a:solidFill>
                  </a:rPr>
                  <a:t>efficiency, scalability, and reliability</a:t>
                </a:r>
                <a:r>
                  <a:rPr lang="en-US" sz="1100" dirty="0">
                    <a:solidFill>
                      <a:schemeClr val="tx1"/>
                    </a:solidFill>
                  </a:rPr>
                  <a:t> compared to single-drone systems .</a:t>
                </a:r>
              </a:p>
              <a:p>
                <a:pPr marL="171450" indent="-171450" algn="just">
                  <a:buFont typeface="Arial" panose="020B0604020202020204" pitchFamily="34" charset="0"/>
                  <a:buChar char="•"/>
                </a:pPr>
                <a:r>
                  <a:rPr lang="en-US" sz="1100" dirty="0">
                    <a:solidFill>
                      <a:schemeClr val="tx1"/>
                    </a:solidFill>
                  </a:rPr>
                  <a:t>To explore real-world applications like </a:t>
                </a:r>
                <a:r>
                  <a:rPr lang="en-US" sz="1100" b="1" dirty="0">
                    <a:solidFill>
                      <a:schemeClr val="tx1"/>
                    </a:solidFill>
                  </a:rPr>
                  <a:t>surveillance, disaster management, and mapping</a:t>
                </a:r>
                <a:r>
                  <a:rPr lang="en-US" sz="1100" dirty="0">
                    <a:solidFill>
                      <a:schemeClr val="tx1"/>
                    </a:solidFill>
                  </a:rPr>
                  <a:t> .</a:t>
                </a:r>
              </a:p>
              <a:p>
                <a:pPr marL="171450" indent="-171450" algn="just">
                  <a:buFont typeface="Arial" panose="020B0604020202020204" pitchFamily="34" charset="0"/>
                  <a:buChar char="•"/>
                </a:pPr>
                <a:r>
                  <a:rPr lang="en-US" sz="1100" dirty="0">
                    <a:solidFill>
                      <a:schemeClr val="tx1"/>
                    </a:solidFill>
                  </a:rPr>
                  <a:t>To achieve </a:t>
                </a:r>
                <a:r>
                  <a:rPr lang="en-US" sz="1100" b="1" dirty="0">
                    <a:solidFill>
                      <a:schemeClr val="tx1"/>
                    </a:solidFill>
                  </a:rPr>
                  <a:t>synchronized flight and coordination</a:t>
                </a:r>
                <a:r>
                  <a:rPr lang="en-US" sz="1100" dirty="0">
                    <a:solidFill>
                      <a:schemeClr val="tx1"/>
                    </a:solidFill>
                  </a:rPr>
                  <a:t> among multiple drones.</a:t>
                </a:r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D44C842B-8ECD-FFA2-8DBC-50247977D1AC}"/>
                  </a:ext>
                </a:extLst>
              </p:cNvPr>
              <p:cNvSpPr/>
              <p:nvPr/>
            </p:nvSpPr>
            <p:spPr>
              <a:xfrm>
                <a:off x="3141873" y="1941260"/>
                <a:ext cx="6611310" cy="449974"/>
              </a:xfrm>
              <a:prstGeom prst="roundRect">
                <a:avLst>
                  <a:gd name="adj" fmla="val 28937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OBJECTIVES</a:t>
                </a:r>
              </a:p>
            </p:txBody>
          </p:sp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41E7BE77-53C5-E245-DCBB-BF57ACC13738}"/>
                  </a:ext>
                </a:extLst>
              </p:cNvPr>
              <p:cNvSpPr/>
              <p:nvPr/>
            </p:nvSpPr>
            <p:spPr>
              <a:xfrm>
                <a:off x="257175" y="1418667"/>
                <a:ext cx="12334874" cy="426018"/>
              </a:xfrm>
              <a:prstGeom prst="roundRect">
                <a:avLst>
                  <a:gd name="adj" fmla="val 2893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SWARM DRONE SYSTEM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6210595-ADB8-766E-7382-EDF3A986E178}"/>
                </a:ext>
              </a:extLst>
            </p:cNvPr>
            <p:cNvGrpSpPr/>
            <p:nvPr/>
          </p:nvGrpSpPr>
          <p:grpSpPr>
            <a:xfrm>
              <a:off x="3099218" y="3901818"/>
              <a:ext cx="6653965" cy="4607055"/>
              <a:chOff x="3099218" y="3901818"/>
              <a:chExt cx="6653965" cy="4607055"/>
            </a:xfrm>
          </p:grpSpPr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A9ACB1F4-B22E-8001-AAB3-6023BA96D16F}"/>
                  </a:ext>
                </a:extLst>
              </p:cNvPr>
              <p:cNvSpPr/>
              <p:nvPr/>
            </p:nvSpPr>
            <p:spPr>
              <a:xfrm>
                <a:off x="3124620" y="3901818"/>
                <a:ext cx="6628563" cy="449974"/>
              </a:xfrm>
              <a:prstGeom prst="roundRect">
                <a:avLst>
                  <a:gd name="adj" fmla="val 28937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METHODOLOGY</a:t>
                </a:r>
              </a:p>
            </p:txBody>
          </p:sp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71E546BC-4BB3-79CD-09E7-4FF29C7A0EA9}"/>
                  </a:ext>
                </a:extLst>
              </p:cNvPr>
              <p:cNvSpPr/>
              <p:nvPr/>
            </p:nvSpPr>
            <p:spPr>
              <a:xfrm>
                <a:off x="3099218" y="4402762"/>
                <a:ext cx="6628564" cy="4106111"/>
              </a:xfrm>
              <a:prstGeom prst="roundRect">
                <a:avLst>
                  <a:gd name="adj" fmla="val 366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development of the swarm drone system is carried out in a structured and systematic manner, involving hardware integration, software configuration, and coordinated flight testing.</a:t>
                </a:r>
              </a:p>
              <a:p>
                <a:r>
                  <a:rPr lang="en-US" sz="1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System Design</a:t>
                </a:r>
              </a:p>
              <a:p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Selection of key components including Pixhawk flight controller, ESCs, GPS modules, telemetry units, motors, and drone frame. Each drone is designed to operate both independently and as part of a swarm.</a:t>
                </a:r>
              </a:p>
              <a:p>
                <a:r>
                  <a:rPr lang="en-US" sz="1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Hardware Integration</a:t>
                </a:r>
              </a:p>
              <a:p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All components are assembled by interfacing ESCs with motors and connecting them to the Pixhawk controller. GPS modules are integrated for positioning, and telemetry modules are installed for wireless communication.</a:t>
                </a:r>
              </a:p>
              <a:p>
                <a:r>
                  <a:rPr lang="en-US" sz="1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Software Configuration</a:t>
                </a:r>
              </a:p>
              <a:p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Mission Planner software is used to configure flight parameters. Sensor calibration (accelerometer, gyroscope, compass) is performed to ensure stable flight. Flight modes and failsafe conditions are set.</a:t>
                </a:r>
              </a:p>
              <a:p>
                <a:r>
                  <a:rPr lang="en-US" sz="1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Communication Setup</a:t>
                </a:r>
              </a:p>
              <a:p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Telemetry links are established between drones and the ground control station. Data transmission enables real-time monitoring and parameter adjustments.</a:t>
                </a:r>
              </a:p>
              <a:p>
                <a:r>
                  <a:rPr lang="en-US" sz="1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5. Swarm Coordination</a:t>
                </a:r>
              </a:p>
              <a:p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Drones are programmed for coordinated operation using waypoint navigation or leader-follower strategies, ensuring synchronized movement and task execution.</a:t>
                </a:r>
              </a:p>
              <a:p>
                <a:r>
                  <a:rPr lang="en-US" sz="1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6. Testing and Validation</a:t>
                </a:r>
              </a:p>
              <a:p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Ground tests are conducted followed by controlled flight tests to evaluate stability, communication, and swarm coordination. Performance is analyzed and optimized</a:t>
                </a:r>
              </a:p>
              <a:p>
                <a:pPr algn="ctr"/>
                <a:endPara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28E5AE8-8F97-114C-4EA8-180867A8C969}"/>
                </a:ext>
              </a:extLst>
            </p:cNvPr>
            <p:cNvGrpSpPr/>
            <p:nvPr/>
          </p:nvGrpSpPr>
          <p:grpSpPr>
            <a:xfrm>
              <a:off x="10013949" y="1933913"/>
              <a:ext cx="2654046" cy="2790306"/>
              <a:chOff x="10013949" y="1933913"/>
              <a:chExt cx="2654046" cy="2790306"/>
            </a:xfrm>
          </p:grpSpPr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FD005B90-15C4-1938-3C8B-E32779019E32}"/>
                  </a:ext>
                </a:extLst>
              </p:cNvPr>
              <p:cNvSpPr/>
              <p:nvPr/>
            </p:nvSpPr>
            <p:spPr>
              <a:xfrm>
                <a:off x="10013949" y="1933913"/>
                <a:ext cx="2578100" cy="449974"/>
              </a:xfrm>
              <a:prstGeom prst="roundRect">
                <a:avLst>
                  <a:gd name="adj" fmla="val 28937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RESULTS</a:t>
                </a:r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B8F700B3-EA82-6B6B-4281-5C4C95E81BEA}"/>
                  </a:ext>
                </a:extLst>
              </p:cNvPr>
              <p:cNvSpPr/>
              <p:nvPr/>
            </p:nvSpPr>
            <p:spPr>
              <a:xfrm>
                <a:off x="10013949" y="2480076"/>
                <a:ext cx="2654046" cy="2244143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1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GPS Accuracy: ~2–3 meters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1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Communication Range: ~800–1000 meters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1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Telemetry Latency: ~100–150 </a:t>
                </a:r>
                <a:r>
                  <a:rPr lang="en-US" sz="12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ms</a:t>
                </a:r>
                <a:endParaRPr lang="en-US" sz="1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1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Flight Stability: High (smooth coordinated movement)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1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Swarm Efficiency: ~40–60% faster area coverage than single drone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73A5B1A-0DEE-1FD6-3F24-1FFB5DDF9395}"/>
                </a:ext>
              </a:extLst>
            </p:cNvPr>
            <p:cNvGrpSpPr/>
            <p:nvPr/>
          </p:nvGrpSpPr>
          <p:grpSpPr>
            <a:xfrm>
              <a:off x="9994690" y="4843927"/>
              <a:ext cx="2673305" cy="2352735"/>
              <a:chOff x="9994690" y="4843927"/>
              <a:chExt cx="2673305" cy="2352735"/>
            </a:xfrm>
          </p:grpSpPr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227F4148-7E1C-3374-8DD4-A545084615A1}"/>
                  </a:ext>
                </a:extLst>
              </p:cNvPr>
              <p:cNvSpPr/>
              <p:nvPr/>
            </p:nvSpPr>
            <p:spPr>
              <a:xfrm>
                <a:off x="10013949" y="4843927"/>
                <a:ext cx="2578100" cy="449974"/>
              </a:xfrm>
              <a:prstGeom prst="roundRect">
                <a:avLst>
                  <a:gd name="adj" fmla="val 28937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CONCLUSION</a:t>
                </a: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7A3FCE5C-FF0D-56F1-5EE2-36C95013B80B}"/>
                  </a:ext>
                </a:extLst>
              </p:cNvPr>
              <p:cNvSpPr/>
              <p:nvPr/>
            </p:nvSpPr>
            <p:spPr>
              <a:xfrm>
                <a:off x="9994690" y="5356868"/>
                <a:ext cx="2673305" cy="1839794"/>
              </a:xfrm>
              <a:prstGeom prst="roundRect">
                <a:avLst>
                  <a:gd name="adj" fmla="val 6312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swarm drone system demonstrates coordinated multi-agent operation using </a:t>
                </a:r>
                <a:r>
                  <a:rPr lang="en-US" sz="1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Pixhawk, GPS, and telemetry</a:t>
                </a:r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ensuring reliable and </a:t>
                </a:r>
                <a:r>
                  <a:rPr lang="en-US" sz="1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synchronized performance</a:t>
                </a:r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It is well-suited for real-world applications including defense </a:t>
                </a:r>
                <a:r>
                  <a:rPr lang="en-US" sz="1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surveillance, border security, disaster response, precision agriculture</a:t>
                </a:r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large-scale infrastructure monitoring.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D0CFCE62-4378-3284-A8FC-C2608E658776}"/>
                </a:ext>
              </a:extLst>
            </p:cNvPr>
            <p:cNvGrpSpPr/>
            <p:nvPr/>
          </p:nvGrpSpPr>
          <p:grpSpPr>
            <a:xfrm>
              <a:off x="9981991" y="7322596"/>
              <a:ext cx="2590800" cy="2093430"/>
              <a:chOff x="9981991" y="7322596"/>
              <a:chExt cx="2590800" cy="2093430"/>
            </a:xfrm>
          </p:grpSpPr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914E3EA0-D659-B321-AE06-EC7082C78A5A}"/>
                  </a:ext>
                </a:extLst>
              </p:cNvPr>
              <p:cNvSpPr/>
              <p:nvPr/>
            </p:nvSpPr>
            <p:spPr>
              <a:xfrm>
                <a:off x="9994691" y="7322596"/>
                <a:ext cx="2578100" cy="449974"/>
              </a:xfrm>
              <a:prstGeom prst="roundRect">
                <a:avLst>
                  <a:gd name="adj" fmla="val 28937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REFERENCES</a:t>
                </a:r>
              </a:p>
            </p:txBody>
          </p:sp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9D727556-6FB5-A57E-2691-654A29ACBEF4}"/>
                  </a:ext>
                </a:extLst>
              </p:cNvPr>
              <p:cNvSpPr/>
              <p:nvPr/>
            </p:nvSpPr>
            <p:spPr>
              <a:xfrm>
                <a:off x="9981991" y="7838279"/>
                <a:ext cx="2578100" cy="1577747"/>
              </a:xfrm>
              <a:prstGeom prst="roundRect">
                <a:avLst>
                  <a:gd name="adj" fmla="val 6312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i="1" dirty="0">
                    <a:solidFill>
                      <a:schemeClr val="tx1"/>
                    </a:solidFill>
                  </a:rPr>
                  <a:t>Mission Planner Software Documentation, </a:t>
                </a:r>
                <a:r>
                  <a:rPr lang="en-IN" sz="1200" i="1" dirty="0" err="1">
                    <a:solidFill>
                      <a:schemeClr val="tx1"/>
                    </a:solidFill>
                  </a:rPr>
                  <a:t>ArduPilot</a:t>
                </a:r>
                <a:r>
                  <a:rPr lang="en-IN" sz="1200" i="1" dirty="0">
                    <a:solidFill>
                      <a:schemeClr val="tx1"/>
                    </a:solidFill>
                  </a:rPr>
                  <a:t> Community.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i="1" dirty="0">
                    <a:solidFill>
                      <a:schemeClr val="tx1"/>
                    </a:solidFill>
                  </a:rPr>
                  <a:t>Research Papers on Multi-UAV Coordination, IEEE Xplore Digital Library.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A9A171D2-15AF-F70F-9DE6-92F3D39F4110}"/>
                </a:ext>
              </a:extLst>
            </p:cNvPr>
            <p:cNvSpPr/>
            <p:nvPr/>
          </p:nvSpPr>
          <p:spPr>
            <a:xfrm>
              <a:off x="3124620" y="8646082"/>
              <a:ext cx="6628564" cy="81791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Name: Divyansh Dixit; </a:t>
              </a:r>
              <a:r>
                <a:rPr lang="en-US" sz="1400" dirty="0" err="1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Heerekar</a:t>
              </a:r>
              <a:r>
                <a:rPr lang="en-US" sz="1400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Sneha Sree; Arya Singh; Harsh Raj</a:t>
              </a:r>
            </a:p>
            <a:p>
              <a:pPr algn="ctr"/>
              <a:r>
                <a:rPr lang="en-US" sz="1400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Project Mentor: Dr. </a:t>
              </a:r>
              <a:r>
                <a:rPr lang="en-US" sz="1400" dirty="0" err="1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Tejavathu</a:t>
              </a:r>
              <a:r>
                <a:rPr lang="en-US" sz="1400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Ramesh (Assistant Professor)</a:t>
              </a:r>
            </a:p>
            <a:p>
              <a:pPr algn="ctr"/>
              <a:r>
                <a:rPr lang="en-US" sz="1600" b="1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National Institute of Technology, Andhra Pradesh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2DBDAE3-112E-6792-F649-75C9411AE232}"/>
                </a:ext>
              </a:extLst>
            </p:cNvPr>
            <p:cNvSpPr/>
            <p:nvPr/>
          </p:nvSpPr>
          <p:spPr>
            <a:xfrm>
              <a:off x="2895813" y="8559843"/>
              <a:ext cx="990387" cy="99038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solidFill>
                    <a:srgbClr val="C00000"/>
                  </a:solidFill>
                </a:rPr>
                <a:t>College logo Here</a:t>
              </a:r>
            </a:p>
          </p:txBody>
        </p: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A51FAD75-2388-265F-AF2E-1D002340B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1593" y="8675015"/>
            <a:ext cx="806826" cy="80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33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229</TotalTime>
  <Words>653</Words>
  <Application>Microsoft Office PowerPoint</Application>
  <PresentationFormat>A3 Paper (297x420 mm)</PresentationFormat>
  <Paragraphs>48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Bookman Old Style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Ankit Pal</dc:creator>
  <cp:lastModifiedBy>Divyansh Dixit</cp:lastModifiedBy>
  <cp:revision>30</cp:revision>
  <dcterms:created xsi:type="dcterms:W3CDTF">2026-03-24T03:07:08Z</dcterms:created>
  <dcterms:modified xsi:type="dcterms:W3CDTF">2026-03-24T13:26:40Z</dcterms:modified>
</cp:coreProperties>
</file>